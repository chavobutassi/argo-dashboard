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67" r:id="rId16"/>
  </p:sld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0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63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A2809-172F-A4B6-51B2-7C884E1F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6C37D-37AD-146E-F8ED-EDC9F1B9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B2AE3-9D68-F1DB-87C1-26A8BC6C0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37E86-F485-AE77-B6D1-5F6C83D94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5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blog-idee.blogspot.com/2019/10/como-se-usa-la-api-de-normalizacion-de.html" TargetMode="Externa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3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6400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10896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Inteligencia Operacional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B3E0"/>
                </a:solidFill>
              </a:rPr>
              <a:t>Cómo convertir datos operacionales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DB3E0"/>
                </a:solidFill>
              </a:rPr>
              <a:t>en decisiones ejecutivas en tiempo real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484632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Logística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484632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Agro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80560" y="484632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Energía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525780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257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Minería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68880" y="525780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5257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Retail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5257800"/>
            <a:ext cx="1828800" cy="292608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5257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B3E0"/>
                </a:solidFill>
              </a:rPr>
              <a:t>Salud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6492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D"/>
                </a:solidFill>
              </a:rPr>
              <a:t>→  deslizá para ver cómo funciona</a:t>
            </a:r>
            <a:endParaRPr lang="en-US" sz="11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9E04F76-FB58-9D07-A3D3-639E2B3AF4E1}"/>
              </a:ext>
            </a:extLst>
          </p:cNvPr>
          <p:cNvSpPr txBox="1"/>
          <p:nvPr/>
        </p:nvSpPr>
        <p:spPr>
          <a:xfrm>
            <a:off x="2286000" y="2486416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dirty="0">
                <a:latin typeface="Palace Script MT" panose="030303020206070C0B05" pitchFamily="66" charset="0"/>
              </a:rPr>
              <a:t>Claudio Julián Butassi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13FE1-591E-0ED1-4989-A93C295C6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BBA766-E7B4-B0F4-2993-C2CEA79C122B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50" y="1784598"/>
            <a:ext cx="2466603" cy="3288804"/>
          </a:xfrm>
          <a:prstGeom prst="rect">
            <a:avLst/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pic>
      <p:sp>
        <p:nvSpPr>
          <p:cNvPr id="22" name="Shape 1"/>
          <p:cNvSpPr/>
          <p:nvPr/>
        </p:nvSpPr>
        <p:spPr>
          <a:xfrm>
            <a:off x="2939932" y="1821991"/>
            <a:ext cx="1390297" cy="193495"/>
          </a:xfrm>
          <a:prstGeom prst="roundRect">
            <a:avLst>
              <a:gd name="adj" fmla="val 18267"/>
            </a:avLst>
          </a:prstGeom>
          <a:solidFill>
            <a:srgbClr val="4C0124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2999" y="1876686"/>
            <a:ext cx="84106" cy="84106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3129130" y="1853525"/>
            <a:ext cx="1138033" cy="130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8"/>
              </a:lnSpc>
            </a:pPr>
            <a:r>
              <a:rPr lang="en-US" sz="656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INTELIGENCIA OPERACIONAL</a:t>
            </a:r>
            <a:endParaRPr lang="en-US" sz="656" dirty="0"/>
          </a:p>
        </p:txBody>
      </p:sp>
      <p:sp>
        <p:nvSpPr>
          <p:cNvPr id="25" name="Text 3"/>
          <p:cNvSpPr/>
          <p:nvPr/>
        </p:nvSpPr>
        <p:spPr>
          <a:xfrm>
            <a:off x="2939933" y="2056061"/>
            <a:ext cx="3549885" cy="61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14"/>
              </a:lnSpc>
            </a:pPr>
            <a:r>
              <a:rPr lang="en-US" sz="1946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ARGO: El Dashboard que Cuenta la Historia</a:t>
            </a:r>
            <a:endParaRPr lang="en-US" sz="1946" dirty="0"/>
          </a:p>
        </p:txBody>
      </p:sp>
      <p:sp>
        <p:nvSpPr>
          <p:cNvPr id="26" name="Text 4"/>
          <p:cNvSpPr/>
          <p:nvPr/>
        </p:nvSpPr>
        <p:spPr>
          <a:xfrm>
            <a:off x="2939933" y="2822674"/>
            <a:ext cx="3549885" cy="489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2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motor de inteligencia operacional en Python que monitorea riesgos en tiempo real y genera automáticamente el briefing ejecutivo del día. No muestra datos — los interpreta.</a:t>
            </a:r>
            <a:endParaRPr lang="en-US" sz="820" dirty="0"/>
          </a:p>
        </p:txBody>
      </p:sp>
      <p:sp>
        <p:nvSpPr>
          <p:cNvPr id="27" name="Shape 5"/>
          <p:cNvSpPr/>
          <p:nvPr/>
        </p:nvSpPr>
        <p:spPr>
          <a:xfrm>
            <a:off x="2939932" y="3422638"/>
            <a:ext cx="1725606" cy="920372"/>
          </a:xfrm>
          <a:prstGeom prst="roundRect">
            <a:avLst>
              <a:gd name="adj" fmla="val 4801"/>
            </a:avLst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28" name="Text 6"/>
          <p:cNvSpPr/>
          <p:nvPr/>
        </p:nvSpPr>
        <p:spPr>
          <a:xfrm>
            <a:off x="3048651" y="3531357"/>
            <a:ext cx="1237599" cy="15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95"/>
              </a:lnSpc>
            </a:pPr>
            <a:r>
              <a:rPr lang="en-US" sz="961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Narrativa automática</a:t>
            </a:r>
            <a:endParaRPr lang="en-US" sz="961" dirty="0"/>
          </a:p>
        </p:txBody>
      </p:sp>
      <p:sp>
        <p:nvSpPr>
          <p:cNvPr id="29" name="Text 7"/>
          <p:cNvSpPr/>
          <p:nvPr/>
        </p:nvSpPr>
        <p:spPr>
          <a:xfrm>
            <a:off x="3048651" y="3745223"/>
            <a:ext cx="1508168" cy="489068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 wrap="squar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2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Una frase que dice qué está mal, dónde pesa el riesgo y qué hacer.</a:t>
            </a:r>
            <a:endParaRPr lang="en-US" sz="820" dirty="0"/>
          </a:p>
        </p:txBody>
      </p:sp>
      <p:sp>
        <p:nvSpPr>
          <p:cNvPr id="30" name="Shape 8"/>
          <p:cNvSpPr/>
          <p:nvPr/>
        </p:nvSpPr>
        <p:spPr>
          <a:xfrm>
            <a:off x="4764156" y="3422638"/>
            <a:ext cx="1725662" cy="920372"/>
          </a:xfrm>
          <a:prstGeom prst="roundRect">
            <a:avLst>
              <a:gd name="adj" fmla="val 4801"/>
            </a:avLst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31" name="Text 9"/>
          <p:cNvSpPr/>
          <p:nvPr/>
        </p:nvSpPr>
        <p:spPr>
          <a:xfrm>
            <a:off x="4872875" y="3531357"/>
            <a:ext cx="1237599" cy="15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95"/>
              </a:lnSpc>
            </a:pPr>
            <a:r>
              <a:rPr lang="en-US" sz="961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Leading vs. Lagging</a:t>
            </a:r>
            <a:endParaRPr lang="en-US" sz="961" dirty="0"/>
          </a:p>
        </p:txBody>
      </p:sp>
      <p:sp>
        <p:nvSpPr>
          <p:cNvPr id="32" name="Text 10"/>
          <p:cNvSpPr/>
          <p:nvPr/>
        </p:nvSpPr>
        <p:spPr>
          <a:xfrm>
            <a:off x="4872875" y="3745223"/>
            <a:ext cx="1508224" cy="489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2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Señales de alerta antes de la falla, no solo el registro posterior.</a:t>
            </a:r>
            <a:endParaRPr lang="en-US" sz="820" dirty="0"/>
          </a:p>
        </p:txBody>
      </p:sp>
      <p:sp>
        <p:nvSpPr>
          <p:cNvPr id="33" name="Shape 11"/>
          <p:cNvSpPr/>
          <p:nvPr/>
        </p:nvSpPr>
        <p:spPr>
          <a:xfrm>
            <a:off x="2939933" y="4441627"/>
            <a:ext cx="3549885" cy="594327"/>
          </a:xfrm>
          <a:prstGeom prst="roundRect">
            <a:avLst>
              <a:gd name="adj" fmla="val 7434"/>
            </a:avLst>
          </a:prstGeom>
          <a:solidFill>
            <a:srgbClr val="2A5FAC">
              <a:alpha val="40000"/>
            </a:srgbClr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34" name="Text 12"/>
          <p:cNvSpPr/>
          <p:nvPr/>
        </p:nvSpPr>
        <p:spPr>
          <a:xfrm>
            <a:off x="3048651" y="4550346"/>
            <a:ext cx="1237599" cy="15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95"/>
              </a:lnSpc>
            </a:pPr>
            <a:r>
              <a:rPr lang="en-US" sz="961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10.000 escenarios</a:t>
            </a:r>
            <a:endParaRPr lang="en-US" sz="961" dirty="0"/>
          </a:p>
        </p:txBody>
      </p:sp>
      <p:sp>
        <p:nvSpPr>
          <p:cNvPr id="35" name="Text 13"/>
          <p:cNvSpPr/>
          <p:nvPr/>
        </p:nvSpPr>
        <p:spPr>
          <a:xfrm>
            <a:off x="3048651" y="4764211"/>
            <a:ext cx="3332448" cy="16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66"/>
              </a:lnSpc>
            </a:pPr>
            <a:r>
              <a:rPr lang="en-US" sz="82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Monte Carlo integrado: P10, P50, P90 y P99 en tiempo real.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91660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</a:rPr>
              <a:t>Los datos operacionales existen.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</a:rPr>
              <a:t>El tiempo para analizarlos, no.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920240"/>
            <a:ext cx="6126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993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</a:rPr>
              <a:t>Datos dispersos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3957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Clima, precios, flota, personal — en sistemas distintos sin una vista unificada.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3291840"/>
            <a:ext cx="6126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3291840"/>
            <a:ext cx="64008" cy="1234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05840" y="33649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</a:rPr>
              <a:t>Sin narrativa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37673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El gerente mira 12 gráficos y no sabe cuál es urgente. El operador no tiene tiempo de analizar.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663440"/>
            <a:ext cx="6126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4663440"/>
            <a:ext cx="64008" cy="1234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754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47365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</a:rPr>
              <a:t>Reacción tardía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51389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Cuando el dashboard muestra el problema, ya ocurrió. Faltan señales tempranas.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Cómo fluyen los datos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De la fuente a la decisión — automáticamente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463040"/>
            <a:ext cx="1828800" cy="2560320"/>
          </a:xfrm>
          <a:prstGeom prst="rect">
            <a:avLst/>
          </a:prstGeom>
          <a:solidFill>
            <a:srgbClr val="E6F1FB"/>
          </a:solidFill>
          <a:ln w="10160">
            <a:solidFill>
              <a:srgbClr val="7DB3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5FAC"/>
                </a:solidFill>
              </a:rPr>
              <a:t>Fuentes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A5FAC"/>
                </a:solidFill>
              </a:rPr>
              <a:t>públicas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1645920" cy="475488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9202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Open-Meteo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(clima)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2487168"/>
            <a:ext cx="1645920" cy="475488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487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Yahoo Finance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(commodities)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3054096"/>
            <a:ext cx="1645920" cy="475488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0540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BCRA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(tipo de cambio)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3621024"/>
            <a:ext cx="1645920" cy="475488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6210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SEPA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(combustibles)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4206240"/>
            <a:ext cx="1828800" cy="1645920"/>
          </a:xfrm>
          <a:prstGeom prst="rect">
            <a:avLst/>
          </a:prstGeom>
          <a:solidFill>
            <a:srgbClr val="F0EBF8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Datos internos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663440"/>
            <a:ext cx="164592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663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ERP / planilla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5138928"/>
            <a:ext cx="164592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5138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Telemetría flota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5614416"/>
            <a:ext cx="1645920" cy="384048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5614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</a:rPr>
              <a:t>RRHH / personal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121408" y="228600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21408" y="292608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21408" y="365760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21408" y="429768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21408" y="502920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21408" y="548640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14600" y="2194560"/>
            <a:ext cx="1828800" cy="3200400"/>
          </a:xfrm>
          <a:prstGeom prst="rect">
            <a:avLst/>
          </a:prstGeom>
          <a:solidFill>
            <a:srgbClr val="1C2B4A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1460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ARGO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606040" y="3017520"/>
            <a:ext cx="1645920" cy="365760"/>
          </a:xfrm>
          <a:prstGeom prst="rect">
            <a:avLst/>
          </a:prstGeom>
          <a:solidFill>
            <a:srgbClr val="2A4A7A"/>
          </a:solidFill>
          <a:ln w="3810">
            <a:solidFill>
              <a:srgbClr val="7DB3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0604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B3E0"/>
                </a:solidFill>
              </a:rPr>
              <a:t>Scoring de riesgo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606040" y="3474720"/>
            <a:ext cx="1645920" cy="365760"/>
          </a:xfrm>
          <a:prstGeom prst="rect">
            <a:avLst/>
          </a:prstGeom>
          <a:solidFill>
            <a:srgbClr val="2A4A7A"/>
          </a:solidFill>
          <a:ln w="3810">
            <a:solidFill>
              <a:srgbClr val="7DB3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060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B3E0"/>
                </a:solidFill>
              </a:rPr>
              <a:t>Análisis Monte Carlo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606040" y="3931920"/>
            <a:ext cx="1645920" cy="365760"/>
          </a:xfrm>
          <a:prstGeom prst="rect">
            <a:avLst/>
          </a:prstGeom>
          <a:solidFill>
            <a:srgbClr val="2A4A7A"/>
          </a:solidFill>
          <a:ln w="3810">
            <a:solidFill>
              <a:srgbClr val="7DB3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6060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B3E0"/>
                </a:solidFill>
              </a:rPr>
              <a:t>SITREP ejecutivo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606040" y="4389120"/>
            <a:ext cx="1645920" cy="365760"/>
          </a:xfrm>
          <a:prstGeom prst="rect">
            <a:avLst/>
          </a:prstGeom>
          <a:solidFill>
            <a:srgbClr val="2A4A7A"/>
          </a:solidFill>
          <a:ln w="3810">
            <a:solidFill>
              <a:srgbClr val="7DB3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060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B3E0"/>
                </a:solidFill>
              </a:rPr>
              <a:t>Alertas automáticas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606040" y="4846320"/>
            <a:ext cx="1645920" cy="365760"/>
          </a:xfrm>
          <a:prstGeom prst="rect">
            <a:avLst/>
          </a:prstGeom>
          <a:solidFill>
            <a:srgbClr val="2A4A7A"/>
          </a:solidFill>
          <a:ln w="3810">
            <a:solidFill>
              <a:srgbClr val="7DB3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606040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B3E0"/>
                </a:solidFill>
              </a:rPr>
              <a:t>Leading vs Lagging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361688" y="3749040"/>
            <a:ext cx="365760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54880" y="2194560"/>
            <a:ext cx="1828800" cy="3200400"/>
          </a:xfrm>
          <a:prstGeom prst="rect">
            <a:avLst/>
          </a:prstGeom>
          <a:solidFill>
            <a:srgbClr val="EAF3DE"/>
          </a:solidFill>
          <a:ln w="19050">
            <a:solidFill>
              <a:srgbClr val="63992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ARGO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846320" y="30175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463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4B4A"/>
                </a:solidFill>
              </a:rPr>
              <a:t>Zona 1 — Operador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846320" y="34747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463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8ADD"/>
                </a:solidFill>
              </a:rPr>
              <a:t>Zona 2 — Gerencia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846320" y="39319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4632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Zona 3 — Análisis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846320" y="43891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4632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9922"/>
                </a:solidFill>
              </a:rPr>
              <a:t>Mapa geográfico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846320" y="48463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46320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Responsive 1080p+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Un dashboard, tres lecturas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4A"/>
                </a:solidFill>
              </a:rPr>
              <a:t>Cada zona responde una pregunta distinta en un tiempo distinto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5760" y="1508760"/>
            <a:ext cx="6126480" cy="155448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508760"/>
            <a:ext cx="73152" cy="15544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01  Zona Operador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84248"/>
            <a:ext cx="1463040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 segundos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85A30"/>
                </a:solidFill>
              </a:rPr>
              <a:t>"¿Hay algo urgente ahora?"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8600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Score global en número grande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Alertas activas con color dominante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Semáforo por categoría de riesgo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297680" y="2258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Mapa de cobertura geográfica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3200400"/>
            <a:ext cx="612648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200400"/>
            <a:ext cx="73152" cy="15544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02  Zona Gerencia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75888"/>
            <a:ext cx="1463040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675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seg — 3 min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8ADD"/>
                </a:solidFill>
              </a:rPr>
              <a:t>"¿Dónde está el problema?"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28600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Párrafo de situación generado solo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9768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KPIs con tendencia histórica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28600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Pareto de impacto + leading/lagging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9768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Bullet chart vs objetivo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4892040"/>
            <a:ext cx="6126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4892040"/>
            <a:ext cx="73152" cy="15544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983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</a:rPr>
              <a:t>03  Zona Análisis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367528"/>
            <a:ext cx="1463040" cy="25603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5367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Reunión semanal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715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D"/>
                </a:solidFill>
              </a:rPr>
              <a:t>"¿Qué puede pasar?"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286000" y="5001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Monte Carlo 10.000 escenarios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297680" y="5001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Matriz probabilidad × impacto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286000" y="5641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Ranking completo de riesgos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97680" y="5641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 SITREP ejecutivo detallado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DB3E0"/>
                </a:solidFill>
              </a:rPr>
              <a:t>El insight más poderoso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 dashboard que muestra datos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 diferente a uno que cuenta una historia.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828800"/>
            <a:ext cx="2926080" cy="2194560"/>
          </a:xfrm>
          <a:prstGeom prst="rect">
            <a:avLst/>
          </a:prstGeom>
          <a:solidFill>
            <a:srgbClr val="1A2A3A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</a:rPr>
              <a:t>❌  Dashboard tradicional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solidFill>
            <a:srgbClr val="2535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Score global: 62/100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743200"/>
            <a:ext cx="2651760" cy="347472"/>
          </a:xfrm>
          <a:prstGeom prst="rect">
            <a:avLst/>
          </a:prstGeom>
          <a:solidFill>
            <a:srgbClr val="2535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Críticos: 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154680"/>
            <a:ext cx="2651760" cy="347472"/>
          </a:xfrm>
          <a:prstGeom prst="rect">
            <a:avLst/>
          </a:prstGeom>
          <a:solidFill>
            <a:srgbClr val="2535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154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Altos: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2651760" cy="347472"/>
          </a:xfrm>
          <a:prstGeom prst="rect">
            <a:avLst/>
          </a:prstGeom>
          <a:solidFill>
            <a:srgbClr val="2535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566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Monitoreados: 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¿Y? ¿Qué hago con esto?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46120" y="2834640"/>
            <a:ext cx="365760" cy="73152"/>
          </a:xfrm>
          <a:prstGeom prst="rect">
            <a:avLst/>
          </a:prstGeom>
          <a:solidFill>
            <a:srgbClr val="7DB3E0"/>
          </a:solidFill>
          <a:ln w="12700">
            <a:solidFill>
              <a:srgbClr val="7DB3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vs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0" y="1828800"/>
            <a:ext cx="2926080" cy="2194560"/>
          </a:xfrm>
          <a:prstGeom prst="rect">
            <a:avLst/>
          </a:prstGeom>
          <a:solidFill>
            <a:srgbClr val="1A3A2A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9922"/>
                </a:solidFill>
              </a:rPr>
              <a:t>✓  ARGO — SITREP ejecutivo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49040" y="23317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"La operación logística muestra riesgo ALTO (62/100). El factor climático concentra el 58% del score. Acción recomendada: activar protocolo de rutas alternativas y escalar a supervisión."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490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639922"/>
                </a:solidFill>
              </a:rPr>
              <a:t>Una frase. Decisión clara.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297680"/>
            <a:ext cx="6309360" cy="1005840"/>
          </a:xfrm>
          <a:prstGeom prst="rect">
            <a:avLst/>
          </a:prstGeom>
          <a:solidFill>
            <a:srgbClr val="1A3050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40740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B3E0"/>
                </a:solidFill>
              </a:rPr>
              <a:t>La diferencia está en cómo se ordena la información, no en cuánta hay.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DB3E0"/>
                </a:solidFill>
              </a:rPr>
              <a:t>ARGO genera el análisis automáticamente. No solo lo muestra.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Proactivo vs reactivo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La diferencia entre prevenir y reaccionar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417320"/>
            <a:ext cx="3063240" cy="4846320"/>
          </a:xfrm>
          <a:prstGeom prst="rect">
            <a:avLst/>
          </a:prstGeom>
          <a:solidFill>
            <a:srgbClr val="F0F7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417320"/>
            <a:ext cx="3063240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435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LEADING — Proactivos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4A"/>
                </a:solidFill>
              </a:rPr>
              <a:t>Señales de lo que puede pasar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B4A"/>
                </a:solidFill>
              </a:rPr>
              <a:t>si no se actúa ahora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743200"/>
            <a:ext cx="2788920" cy="530352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743200"/>
            <a:ext cx="54864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743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Inspecciones completadas: 8/10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3401568"/>
            <a:ext cx="2788920" cy="530352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3401568"/>
            <a:ext cx="54864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4015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Capacitaciones al día: 6/9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4059936"/>
            <a:ext cx="2788920" cy="530352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4059936"/>
            <a:ext cx="54864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599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Mantenimiento preventivo: OK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4718304"/>
            <a:ext cx="2788920" cy="530352"/>
          </a:xfrm>
          <a:prstGeom prst="rect">
            <a:avLst/>
          </a:prstGeom>
          <a:solidFill>
            <a:srgbClr val="E6F1FB"/>
          </a:solidFill>
          <a:ln w="6350">
            <a:solidFill>
              <a:srgbClr val="7DB3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4718304"/>
            <a:ext cx="54864" cy="5303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7183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Observaciones reportadas: 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5458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8ADD"/>
                </a:solidFill>
              </a:rPr>
              <a:t>⟵  PREVENCIÓN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520440" y="1417320"/>
            <a:ext cx="3063240" cy="4846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20440" y="1417320"/>
            <a:ext cx="306324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6160" y="1435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LAGGING — Reactivos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56616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4A"/>
                </a:solidFill>
              </a:rPr>
              <a:t>Lo que ya ocurrió.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B4A"/>
                </a:solidFill>
              </a:rPr>
              <a:t>Sirve para aprender, no para prevenir.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2743200"/>
            <a:ext cx="2788920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0" y="2743200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94760" y="2743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Incidentes registrados: 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0" y="3401568"/>
            <a:ext cx="2788920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657600" y="3401568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94760" y="34015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Días perdidos por falla: 0.5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57600" y="4059936"/>
            <a:ext cx="2788920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57600" y="4059936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94760" y="40599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Costo de siniestros: $0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57600" y="4718304"/>
            <a:ext cx="2788920" cy="530352"/>
          </a:xfrm>
          <a:prstGeom prst="rect">
            <a:avLst/>
          </a:prstGeom>
          <a:solidFill>
            <a:srgbClr val="FCEBEB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657600" y="4718304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794760" y="47183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4A"/>
                </a:solidFill>
              </a:rPr>
              <a:t>Desvíos en auditoría: 3 abiertos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566160" y="5458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4B4A"/>
                </a:solidFill>
              </a:rPr>
              <a:t>REACCIÓN  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DB3E0"/>
                </a:solidFill>
              </a:rPr>
              <a:t>No solo el presente. También el futuro.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10.000 escenarios simulados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antes de que ocurran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1874520"/>
            <a:ext cx="1508760" cy="2103120"/>
          </a:xfrm>
          <a:prstGeom prst="rect">
            <a:avLst/>
          </a:prstGeom>
          <a:solidFill>
            <a:srgbClr val="1C3A1C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A7517"/>
                </a:solidFill>
              </a:rPr>
              <a:t>Optimista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A7517"/>
                </a:solidFill>
              </a:rPr>
              <a:t>P10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A7517"/>
                </a:solidFill>
              </a:rPr>
              <a:t>31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/100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3630168"/>
            <a:ext cx="1051560" cy="256032"/>
          </a:xfrm>
          <a:prstGeom prst="rect">
            <a:avLst/>
          </a:prstGeom>
          <a:solidFill>
            <a:srgbClr val="BA7517">
              <a:alpha val="40000"/>
            </a:srgbClr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MEDIO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856232" y="1874520"/>
            <a:ext cx="1508760" cy="2103120"/>
          </a:xfrm>
          <a:prstGeom prst="rect">
            <a:avLst/>
          </a:prstGeom>
          <a:solidFill>
            <a:srgbClr val="1C3A1C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56232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A7517"/>
                </a:solidFill>
              </a:rPr>
              <a:t>Esperado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A7517"/>
                </a:solidFill>
              </a:rPr>
              <a:t>P50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56232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A7517"/>
                </a:solidFill>
              </a:rPr>
              <a:t>47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856232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/100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84832" y="3630168"/>
            <a:ext cx="1051560" cy="256032"/>
          </a:xfrm>
          <a:prstGeom prst="rect">
            <a:avLst/>
          </a:prstGeom>
          <a:solidFill>
            <a:srgbClr val="BA7517">
              <a:alpha val="40000"/>
            </a:srgbClr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84832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MEDIO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38144" y="1874520"/>
            <a:ext cx="1508760" cy="2103120"/>
          </a:xfrm>
          <a:prstGeom prst="rect">
            <a:avLst/>
          </a:prstGeom>
          <a:solidFill>
            <a:srgbClr val="3A2A1C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8144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5A30"/>
                </a:solidFill>
              </a:rPr>
              <a:t>Adverso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5A30"/>
                </a:solidFill>
              </a:rPr>
              <a:t>P90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38144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85A30"/>
                </a:solidFill>
              </a:rPr>
              <a:t>62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3438144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/100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66744" y="3630168"/>
            <a:ext cx="1051560" cy="256032"/>
          </a:xfrm>
          <a:prstGeom prst="rect">
            <a:avLst/>
          </a:prstGeom>
          <a:solidFill>
            <a:srgbClr val="D85A30">
              <a:alpha val="4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6744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5A30"/>
                </a:solidFill>
              </a:rPr>
              <a:t>ALTO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0056" y="1874520"/>
            <a:ext cx="1508760" cy="2103120"/>
          </a:xfrm>
          <a:prstGeom prst="rect">
            <a:avLst/>
          </a:prstGeom>
          <a:solidFill>
            <a:srgbClr val="3A1C1C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0056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4B4A"/>
                </a:solidFill>
              </a:rPr>
              <a:t>Catástrofe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4B4A"/>
                </a:solidFill>
              </a:rPr>
              <a:t>P99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0056" y="25146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24B4A"/>
                </a:solidFill>
              </a:rPr>
              <a:t>81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020056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/100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248656" y="3630168"/>
            <a:ext cx="1051560" cy="256032"/>
          </a:xfrm>
          <a:prstGeom prst="rect">
            <a:avLst/>
          </a:prstGeom>
          <a:solidFill>
            <a:srgbClr val="E24B4A">
              <a:alpha val="40000"/>
            </a:srgbClr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48656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CRÍTICO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65760" y="41605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DB3E0"/>
                </a:solidFill>
              </a:rPr>
              <a:t>Distribución de probabilidad por nivel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432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B3E0"/>
                </a:solidFill>
              </a:rPr>
              <a:t>BAJO &lt; 30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965960" y="4617720"/>
            <a:ext cx="3657600" cy="20116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965960" y="4617720"/>
            <a:ext cx="658368" cy="201168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50992" y="4572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39922"/>
                </a:solidFill>
              </a:rPr>
              <a:t>18%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74320" y="4965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B3E0"/>
                </a:solidFill>
              </a:rPr>
              <a:t>MEDIO 30–55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965960" y="5010912"/>
            <a:ext cx="3657600" cy="20116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65960" y="5010912"/>
            <a:ext cx="1865376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50992" y="4965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7517"/>
                </a:solidFill>
              </a:rPr>
              <a:t>51%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74320" y="53583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B3E0"/>
                </a:solidFill>
              </a:rPr>
              <a:t>ALTO 55–75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965960" y="5404104"/>
            <a:ext cx="3657600" cy="20116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65960" y="5404104"/>
            <a:ext cx="877824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50992" y="53583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85A30"/>
                </a:solidFill>
              </a:rPr>
              <a:t>24%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74320" y="57515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B3E0"/>
                </a:solidFill>
              </a:rPr>
              <a:t>CRÍTICO &gt; 75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965960" y="5797296"/>
            <a:ext cx="3657600" cy="201168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65960" y="5797296"/>
            <a:ext cx="256032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50992" y="57515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</a:rPr>
              <a:t>7%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n 44">
            <a:extLst>
              <a:ext uri="{FF2B5EF4-FFF2-40B4-BE49-F238E27FC236}">
                <a16:creationId xmlns:a16="http://schemas.microsoft.com/office/drawing/2014/main" id="{2876B896-2D90-1553-7161-A78CD44D7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35522" r="23357"/>
          <a:stretch>
            <a:fillRect/>
          </a:stretch>
        </p:blipFill>
        <p:spPr>
          <a:xfrm>
            <a:off x="365760" y="1746504"/>
            <a:ext cx="3851764" cy="4915888"/>
          </a:xfrm>
          <a:prstGeom prst="rect">
            <a:avLst/>
          </a:prstGeom>
        </p:spPr>
      </p:pic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Cobertura geográfica en tiempo real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Mapa interactivo de provincias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coloreadas por nivel de riesgo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371621" y="6181344"/>
            <a:ext cx="1831571" cy="30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</a:rPr>
              <a:t>Mapa de Argentina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</a:rPr>
              <a:t>(provincias en tiempo real)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52994" y="3530960"/>
            <a:ext cx="822960" cy="822960"/>
          </a:xfrm>
          <a:prstGeom prst="ellipse">
            <a:avLst/>
          </a:prstGeom>
          <a:solidFill>
            <a:srgbClr val="BA7517">
              <a:alpha val="75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15806" y="43008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Buenos Aires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MEDIO 41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083029" y="3429000"/>
            <a:ext cx="731520" cy="731520"/>
          </a:xfrm>
          <a:prstGeom prst="ellipse">
            <a:avLst/>
          </a:prstGeom>
          <a:solidFill>
            <a:srgbClr val="D85A30">
              <a:alpha val="75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4378" y="3530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Neuquén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ALTO 61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508760" y="2039112"/>
            <a:ext cx="640080" cy="640080"/>
          </a:xfrm>
          <a:prstGeom prst="ellipse">
            <a:avLst/>
          </a:prstGeom>
          <a:solidFill>
            <a:srgbClr val="D85A30">
              <a:alpha val="75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4181" y="18790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Jujuy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ALTO 65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997329" y="3007000"/>
            <a:ext cx="534489" cy="523960"/>
          </a:xfrm>
          <a:prstGeom prst="ellipse">
            <a:avLst/>
          </a:prstGeom>
          <a:solidFill>
            <a:srgbClr val="BA7517">
              <a:alpha val="75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3047" y="3173661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Santa Fe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MEDIO 58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34340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8D"/>
                </a:solidFill>
              </a:rPr>
              <a:t>Detalle por provincia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43400" y="2057400"/>
            <a:ext cx="2240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3400" y="2057400"/>
            <a:ext cx="54864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62272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Buenos Aires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62272" y="2404872"/>
            <a:ext cx="8229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62272" y="2404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MEDIO 41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462272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8D"/>
                </a:solidFill>
              </a:rPr>
              <a:t>Andreani · Coto · Swiss Medical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343400" y="3136392"/>
            <a:ext cx="2240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43400" y="3136392"/>
            <a:ext cx="54864" cy="9601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62272" y="3191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Neuquén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462272" y="3483864"/>
            <a:ext cx="822960" cy="201168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62272" y="3483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5A30"/>
                </a:solidFill>
              </a:rPr>
              <a:t>ALTO 61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462272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8D"/>
                </a:solidFill>
              </a:rPr>
              <a:t>YPF · Pan American Energy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43400" y="4215384"/>
            <a:ext cx="2240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43400" y="4215384"/>
            <a:ext cx="54864" cy="9601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62272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Jujuy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62272" y="4562856"/>
            <a:ext cx="822960" cy="201168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62272" y="45628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85A30"/>
                </a:solidFill>
              </a:rPr>
              <a:t>ALTO 65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462272" y="4828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8D"/>
                </a:solidFill>
              </a:rPr>
              <a:t>Livent (Fenix)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343400" y="5294376"/>
            <a:ext cx="22402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43400" y="5294376"/>
            <a:ext cx="54864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62272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</a:rPr>
              <a:t>Santa Fe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462272" y="5641848"/>
            <a:ext cx="8229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62272" y="5641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7517"/>
                </a:solidFill>
              </a:rPr>
              <a:t>MEDIO 58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462272" y="5907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8D"/>
                </a:solidFill>
              </a:rPr>
              <a:t>ACA Agropecuaria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Un motor. Seis sectores.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El mismo sistema configurado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para cada industria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645920"/>
            <a:ext cx="3108960" cy="1508760"/>
          </a:xfrm>
          <a:prstGeom prst="rect">
            <a:avLst/>
          </a:prstGeom>
          <a:solidFill>
            <a:srgbClr val="E6F1FB"/>
          </a:solidFill>
          <a:ln w="10160">
            <a:solidFill>
              <a:srgbClr val="2A5F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FAC"/>
                </a:solidFill>
              </a:rPr>
              <a:t>Logística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121408"/>
            <a:ext cx="1645920" cy="219456"/>
          </a:xfrm>
          <a:prstGeom prst="rect">
            <a:avLst/>
          </a:prstGeom>
          <a:solidFill>
            <a:srgbClr val="2A5FAC">
              <a:alpha val="20000"/>
            </a:srgbClr>
          </a:solidFill>
          <a:ln w="12700">
            <a:solidFill>
              <a:srgbClr val="2A5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5FAC"/>
                </a:solidFill>
              </a:rPr>
              <a:t>KPI: OTIF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Clima · Combustible · Flota · Personal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566160" y="1645920"/>
            <a:ext cx="3108960" cy="1508760"/>
          </a:xfrm>
          <a:prstGeom prst="rect">
            <a:avLst/>
          </a:prstGeom>
          <a:solidFill>
            <a:srgbClr val="EAF3DE"/>
          </a:solidFill>
          <a:ln w="10160">
            <a:solidFill>
              <a:srgbClr val="3B6D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6D11"/>
                </a:solidFill>
              </a:rPr>
              <a:t>Agro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03320" y="2121408"/>
            <a:ext cx="1645920" cy="219456"/>
          </a:xfrm>
          <a:prstGeom prst="rect">
            <a:avLst/>
          </a:prstGeom>
          <a:solidFill>
            <a:srgbClr val="3B6D11">
              <a:alpha val="20000"/>
            </a:srgbClr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</a:rPr>
              <a:t>KPI: Rendimiento tn/ha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03320" y="24231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Sequía · Precios · Heladas · Logística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310128"/>
            <a:ext cx="3108960" cy="1508760"/>
          </a:xfrm>
          <a:prstGeom prst="rect">
            <a:avLst/>
          </a:prstGeom>
          <a:solidFill>
            <a:srgbClr val="FAECE7"/>
          </a:solidFill>
          <a:ln w="10160">
            <a:solidFill>
              <a:srgbClr val="993C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401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3C1D"/>
                </a:solidFill>
              </a:rPr>
              <a:t>Energía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3785616"/>
            <a:ext cx="1645920" cy="219456"/>
          </a:xfrm>
          <a:prstGeom prst="rect">
            <a:avLst/>
          </a:prstGeom>
          <a:solidFill>
            <a:srgbClr val="993C1D">
              <a:alpha val="20000"/>
            </a:srgbClr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7856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93C1D"/>
                </a:solidFill>
              </a:rPr>
              <a:t>KPI: Producción bbl/día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11480" y="40873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Equipos · WTI · Clima · Sindical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566160" y="3310128"/>
            <a:ext cx="3108960" cy="1508760"/>
          </a:xfrm>
          <a:prstGeom prst="rect">
            <a:avLst/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03320" y="3401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</a:rPr>
              <a:t>Minería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703320" y="3785616"/>
            <a:ext cx="1645920" cy="219456"/>
          </a:xfrm>
          <a:prstGeom prst="rect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03320" y="37856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34AB7"/>
                </a:solidFill>
              </a:rPr>
              <a:t>KPI: Disponibilidad equipos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03320" y="40873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HSE · Clima altura · Litio · Rotación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974336"/>
            <a:ext cx="3108960" cy="1508760"/>
          </a:xfrm>
          <a:prstGeom prst="rect">
            <a:avLst/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5065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</a:rPr>
              <a:t>Retail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11480" y="5449824"/>
            <a:ext cx="1645920" cy="219456"/>
          </a:xfrm>
          <a:prstGeom prst="rect">
            <a:avLst/>
          </a:prstGeom>
          <a:solidFill>
            <a:srgbClr val="0F6E56">
              <a:alpha val="2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5449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</a:rPr>
              <a:t>KPI: Fill rate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11480" y="57515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Stock · Proveedores · Demanda · ERP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566160" y="4974336"/>
            <a:ext cx="3108960" cy="1508760"/>
          </a:xfrm>
          <a:prstGeom prst="rect">
            <a:avLst/>
          </a:prstGeom>
          <a:solidFill>
            <a:srgbClr val="FBEAF0"/>
          </a:solidFill>
          <a:ln w="10160">
            <a:solidFill>
              <a:srgbClr val="99355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03320" y="5065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3556"/>
                </a:solidFill>
              </a:rPr>
              <a:t>Salud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703320" y="5449824"/>
            <a:ext cx="1645920" cy="219456"/>
          </a:xfrm>
          <a:prstGeom prst="rect">
            <a:avLst/>
          </a:prstGeom>
          <a:solidFill>
            <a:srgbClr val="993556">
              <a:alpha val="20000"/>
            </a:srgbClr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03320" y="5449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93556"/>
                </a:solidFill>
              </a:rPr>
              <a:t>KPI: Tiempo respuesta guardia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703320" y="575157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Insumos · UCI · Guardia · Sistemas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Datos reales, sin fricción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Fuentes públicas gratuitas + datos internos propios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463040"/>
            <a:ext cx="6309360" cy="868680"/>
          </a:xfrm>
          <a:prstGeom prst="rect">
            <a:avLst/>
          </a:prstGeom>
          <a:solidFill>
            <a:srgbClr val="E6F1FB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463040"/>
            <a:ext cx="64008" cy="8686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17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</a:rPr>
              <a:t>Open-Meteo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1554480" cy="201168"/>
          </a:xfrm>
          <a:prstGeom prst="rect">
            <a:avLst/>
          </a:prstGeom>
          <a:solidFill>
            <a:srgbClr val="378ADD">
              <a:alpha val="25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47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78ADD"/>
                </a:solidFill>
              </a:rPr>
              <a:t>API pública · sin 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606040" y="155448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Temperatura · Precipitación · Viento · Humedad para cualquier coordenada de Argentina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450592"/>
            <a:ext cx="6309360" cy="868680"/>
          </a:xfrm>
          <a:prstGeom prst="rect">
            <a:avLst/>
          </a:prstGeom>
          <a:solidFill>
            <a:srgbClr val="FFF3E0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450592"/>
            <a:ext cx="64008" cy="868680"/>
          </a:xfrm>
          <a:prstGeom prst="rect">
            <a:avLst/>
          </a:prstGeom>
          <a:solidFill>
            <a:srgbClr val="EF7B10"/>
          </a:solidFill>
          <a:ln w="12700">
            <a:solidFill>
              <a:srgbClr val="EF7B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05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</a:rPr>
              <a:t>Yahoo Finance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1554480" cy="201168"/>
          </a:xfrm>
          <a:prstGeom prst="rect">
            <a:avLst/>
          </a:prstGeom>
          <a:solidFill>
            <a:srgbClr val="EF7B10">
              <a:alpha val="25000"/>
            </a:srgbClr>
          </a:solidFill>
          <a:ln w="12700">
            <a:solidFill>
              <a:srgbClr val="EF7B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834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7B10"/>
                </a:solidFill>
              </a:rPr>
              <a:t>API pública · sin key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06040" y="254203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Soja · Maíz · Trigo · Petróleo WTI · Petróleo Brent — precios de mercado en tiempo real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438144"/>
            <a:ext cx="6309360" cy="868680"/>
          </a:xfrm>
          <a:prstGeom prst="rect">
            <a:avLst/>
          </a:prstGeom>
          <a:solidFill>
            <a:srgbClr val="E8F5E9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3438144"/>
            <a:ext cx="64008" cy="868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</a:rPr>
              <a:t>BCRA API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822192"/>
            <a:ext cx="1554480" cy="201168"/>
          </a:xfrm>
          <a:prstGeom prst="rect">
            <a:avLst/>
          </a:prstGeom>
          <a:solidFill>
            <a:srgbClr val="1B5E20">
              <a:alpha val="25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</a:rPr>
              <a:t>API oficial argentina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06040" y="352958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Tipo de cambio oficial USD/ARS — fuente: Banco Central de la República Argentina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425696"/>
            <a:ext cx="6309360" cy="868680"/>
          </a:xfrm>
          <a:prstGeom prst="rect">
            <a:avLst/>
          </a:prstGeom>
          <a:solidFill>
            <a:srgbClr val="F3E5F5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4425696"/>
            <a:ext cx="64008" cy="86868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</a:rPr>
              <a:t>SEPA · datos.gob.ar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809744"/>
            <a:ext cx="1554480" cy="201168"/>
          </a:xfrm>
          <a:prstGeom prst="rect">
            <a:avLst/>
          </a:prstGeom>
          <a:solidFill>
            <a:srgbClr val="4A148C">
              <a:alpha val="25000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148C"/>
                </a:solidFill>
              </a:rPr>
              <a:t>Portal datos abiertos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606040" y="451713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Precios de gasoil y nafta por región — actualización frecuente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5413248"/>
            <a:ext cx="6309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5413248"/>
            <a:ext cx="64008" cy="8686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5468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</a:rPr>
              <a:t>Datos internos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5797296"/>
            <a:ext cx="1554480" cy="201168"/>
          </a:xfrm>
          <a:prstGeom prst="rect">
            <a:avLst/>
          </a:prstGeom>
          <a:solidFill>
            <a:srgbClr val="6B7A8D">
              <a:alpha val="25000"/>
            </a:srgbClr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5797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8D"/>
                </a:solidFill>
              </a:rPr>
              <a:t>ERP / planilla / telemetría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606040" y="55046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Flota · Personal · Stock · Equipos — conectados vía CSV, API o formulario en el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371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78ADD"/>
                </a:solidFill>
              </a:rPr>
              <a:t>Construido con herramientas profesionales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Stack 100% open source,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C2B4A"/>
                </a:solidFill>
              </a:rPr>
              <a:t>deployable en cualquier infraestructura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1600200"/>
            <a:ext cx="3108960" cy="18288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600200"/>
            <a:ext cx="31089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Motor central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Scoring de riesgo · Monte Carlo · SITREP · Conectores de datos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1600200"/>
            <a:ext cx="3108960" cy="1828800"/>
          </a:xfrm>
          <a:prstGeom prst="rect">
            <a:avLst/>
          </a:prstGeom>
          <a:solidFill>
            <a:srgbClr val="EDE7F6"/>
          </a:solidFill>
          <a:ln w="10160">
            <a:solidFill>
              <a:srgbClr val="3700B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600200"/>
            <a:ext cx="3108960" cy="54864"/>
          </a:xfrm>
          <a:prstGeom prst="rect">
            <a:avLst/>
          </a:prstGeom>
          <a:solidFill>
            <a:srgbClr val="3700B3"/>
          </a:solidFill>
          <a:ln w="12700">
            <a:solidFill>
              <a:srgbClr val="3700B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033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00B3"/>
                </a:solidFill>
              </a:rPr>
              <a:t>Dash · Plotly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0332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Dashboard interactivo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0332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Visualizaciones en tiempo real · Responsive · Callbacks reactivos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611880"/>
            <a:ext cx="3108960" cy="1828800"/>
          </a:xfrm>
          <a:prstGeom prst="rect">
            <a:avLst/>
          </a:prstGeom>
          <a:solidFill>
            <a:srgbClr val="E8F5E9"/>
          </a:solidFill>
          <a:ln w="10160">
            <a:solidFill>
              <a:srgbClr val="1B5E2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3611880"/>
            <a:ext cx="310896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</a:rPr>
              <a:t>requests · georef API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148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Conectores de datos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Open-Meteo · Yahoo Finance · BCRA · datos.gob.ar — sin API key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66160" y="3611880"/>
            <a:ext cx="3108960" cy="182880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66160" y="3611880"/>
            <a:ext cx="310896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</a:rPr>
              <a:t>JSON config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70332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Configuración por empresa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703320" y="4526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Cada empresa tiene su propio perfil de riesgo · generado por wizard interactivo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3DE9035-2996-42FC-33A9-5AB4F5F169F7}"/>
              </a:ext>
            </a:extLst>
          </p:cNvPr>
          <p:cNvSpPr/>
          <p:nvPr/>
        </p:nvSpPr>
        <p:spPr>
          <a:xfrm>
            <a:off x="285750" y="5614416"/>
            <a:ext cx="3108960" cy="1143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0160">
            <a:solidFill>
              <a:schemeClr val="accent4">
                <a:lumMod val="75000"/>
              </a:schemeClr>
            </a:solidFill>
            <a:prstDash val="solid"/>
          </a:ln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A6CCFBC-306C-539E-5199-16A29E1534B5}"/>
              </a:ext>
            </a:extLst>
          </p:cNvPr>
          <p:cNvSpPr/>
          <p:nvPr/>
        </p:nvSpPr>
        <p:spPr>
          <a:xfrm>
            <a:off x="276225" y="5623179"/>
            <a:ext cx="3108960" cy="5486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0E57DA67-6900-A785-EABC-9A5C5FAE5AF2}"/>
              </a:ext>
            </a:extLst>
          </p:cNvPr>
          <p:cNvSpPr/>
          <p:nvPr/>
        </p:nvSpPr>
        <p:spPr>
          <a:xfrm>
            <a:off x="356235" y="567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POWER BI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30D29F8-0473-45F7-7A65-1379FC145591}"/>
              </a:ext>
            </a:extLst>
          </p:cNvPr>
          <p:cNvSpPr/>
          <p:nvPr/>
        </p:nvSpPr>
        <p:spPr>
          <a:xfrm>
            <a:off x="365760" y="60121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noProof="0" dirty="0"/>
              <a:t>Visualización</a:t>
            </a: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5CE3EB2B-137E-060C-0428-1F2B95002D95}"/>
              </a:ext>
            </a:extLst>
          </p:cNvPr>
          <p:cNvSpPr/>
          <p:nvPr/>
        </p:nvSpPr>
        <p:spPr>
          <a:xfrm>
            <a:off x="3566160" y="5593080"/>
            <a:ext cx="3108960" cy="1143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FA3838B7-FD13-0145-E885-127512154C19}"/>
              </a:ext>
            </a:extLst>
          </p:cNvPr>
          <p:cNvSpPr/>
          <p:nvPr/>
        </p:nvSpPr>
        <p:spPr>
          <a:xfrm>
            <a:off x="3556635" y="5601843"/>
            <a:ext cx="310896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5CC3B5F-D8AB-DF70-662B-9CFE817BE0DE}"/>
              </a:ext>
            </a:extLst>
          </p:cNvPr>
          <p:cNvSpPr/>
          <p:nvPr/>
        </p:nvSpPr>
        <p:spPr>
          <a:xfrm>
            <a:off x="3636645" y="5654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HTML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8F67437-F31C-824A-8D5F-F042C3A3645F}"/>
              </a:ext>
            </a:extLst>
          </p:cNvPr>
          <p:cNvSpPr/>
          <p:nvPr/>
        </p:nvSpPr>
        <p:spPr>
          <a:xfrm>
            <a:off x="3636645" y="6039993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000" dirty="0"/>
              <a:t>Visualización</a:t>
            </a:r>
          </a:p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EA2DA6C4-7452-CC0A-6A25-BEFD895B82F9}"/>
              </a:ext>
            </a:extLst>
          </p:cNvPr>
          <p:cNvGrpSpPr/>
          <p:nvPr/>
        </p:nvGrpSpPr>
        <p:grpSpPr>
          <a:xfrm>
            <a:off x="177803" y="123823"/>
            <a:ext cx="6175372" cy="6362701"/>
            <a:chOff x="177803" y="123824"/>
            <a:chExt cx="4545334" cy="450532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B8D2363-3868-F2ED-8A89-3A0F23A95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0880"/>
            <a:stretch>
              <a:fillRect/>
            </a:stretch>
          </p:blipFill>
          <p:spPr>
            <a:xfrm>
              <a:off x="177803" y="123824"/>
              <a:ext cx="4545334" cy="1733551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B88C713-7A39-C71F-BC4D-2005A062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440"/>
            <a:stretch>
              <a:fillRect/>
            </a:stretch>
          </p:blipFill>
          <p:spPr>
            <a:xfrm>
              <a:off x="177803" y="1857375"/>
              <a:ext cx="4545334" cy="2771775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D1D5161-4F8F-9AD7-F95F-43DF03FE2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3953" t="27040" r="33627" b="61600"/>
            <a:stretch>
              <a:fillRect/>
            </a:stretch>
          </p:blipFill>
          <p:spPr>
            <a:xfrm>
              <a:off x="2400300" y="819146"/>
              <a:ext cx="888370" cy="1064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249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417E86-EDBF-42D8-9CB0-29DE0A04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7" b="6117"/>
          <a:stretch>
            <a:fillRect/>
          </a:stretch>
        </p:blipFill>
        <p:spPr>
          <a:xfrm>
            <a:off x="0" y="781051"/>
            <a:ext cx="68580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7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3" name="Image 0" descr="/home/claude/ARGO_im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46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14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Argo Estrategias Analíticas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0906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B3E0"/>
                </a:solidFill>
              </a:rPr>
              <a:t>Inteligencia Operacional · motor de </a:t>
            </a:r>
            <a:r>
              <a:rPr lang="en-US" sz="1200" dirty="0" err="1">
                <a:solidFill>
                  <a:srgbClr val="7DB3E0"/>
                </a:solidFill>
              </a:rPr>
              <a:t>análisis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4846320"/>
            <a:ext cx="4114800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7316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¿Operás en </a:t>
            </a:r>
            <a:r>
              <a:rPr lang="en-US" sz="1600" dirty="0" err="1">
                <a:solidFill>
                  <a:srgbClr val="FFFFFF"/>
                </a:solidFill>
              </a:rPr>
              <a:t>Logística</a:t>
            </a:r>
            <a:r>
              <a:rPr lang="en-US" sz="1600" dirty="0">
                <a:solidFill>
                  <a:srgbClr val="FFFFFF"/>
                </a:solidFill>
              </a:rPr>
              <a:t>, </a:t>
            </a:r>
            <a:r>
              <a:rPr lang="en-US" sz="1600" dirty="0" err="1">
                <a:solidFill>
                  <a:srgbClr val="FFFFFF"/>
                </a:solidFill>
              </a:rPr>
              <a:t>Agro</a:t>
            </a:r>
            <a:r>
              <a:rPr lang="en-US" sz="1600" dirty="0">
                <a:solidFill>
                  <a:srgbClr val="FFFFFF"/>
                </a:solidFill>
              </a:rPr>
              <a:t>, Energía,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Minería</a:t>
            </a:r>
            <a:r>
              <a:rPr lang="en-US" sz="1600" dirty="0">
                <a:solidFill>
                  <a:srgbClr val="FFFFFF"/>
                </a:solidFill>
              </a:rPr>
              <a:t>, Retail o Salud?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3703320"/>
            <a:ext cx="5029200" cy="36576"/>
          </a:xfrm>
          <a:prstGeom prst="rect">
            <a:avLst/>
          </a:prstGeom>
          <a:solidFill>
            <a:srgbClr val="378ADD">
              <a:alpha val="5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48463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57150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DB3E0"/>
                </a:solidFill>
              </a:rPr>
              <a:t>#InteligenciaOperacional  #Python  #Dash  #RiskManagement  #Argentina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1062</Words>
  <Application>Microsoft Office PowerPoint</Application>
  <PresentationFormat>Personalizado</PresentationFormat>
  <Paragraphs>251</Paragraphs>
  <Slides>15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Overpass</vt:lpstr>
      <vt:lpstr>Overpass Bold</vt:lpstr>
      <vt:lpstr>Palace Script MT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ARGO — Inteligencia Operacional</dc:title>
  <dc:subject>PptxGenJS Presentation</dc:subject>
  <dc:creator>Argo Estrategias Analíticas</dc:creator>
  <cp:lastModifiedBy>chavito butassi</cp:lastModifiedBy>
  <cp:revision>8</cp:revision>
  <dcterms:created xsi:type="dcterms:W3CDTF">2026-04-27T01:54:12Z</dcterms:created>
  <dcterms:modified xsi:type="dcterms:W3CDTF">2026-04-27T02:40:59Z</dcterms:modified>
</cp:coreProperties>
</file>